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Raleway SemiBold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Lat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RalewaySemiBold-bold.fntdata"/><Relationship Id="rId16" Type="http://schemas.openxmlformats.org/officeDocument/2006/relationships/font" Target="fonts/RalewaySemiBold-regular.fntdata"/><Relationship Id="rId19" Type="http://schemas.openxmlformats.org/officeDocument/2006/relationships/font" Target="fonts/RalewaySemiBold-boldItalic.fntdata"/><Relationship Id="rId18" Type="http://schemas.openxmlformats.org/officeDocument/2006/relationships/font" Target="fonts/Raleway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e965474a9_3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e965474a9_3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Tarea 3:</a:t>
            </a:r>
            <a:r>
              <a:rPr lang="en"/>
              <a:t> Gestión de usuarios, accesos y permisos (SaaS / cuentas)</a:t>
            </a:r>
            <a:endParaRPr b="0" sz="41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Equipo CORE V TECH</a:t>
            </a:r>
            <a:endParaRPr b="1" sz="2400"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3">
            <a:alphaModFix/>
          </a:blip>
          <a:srcRect b="0" l="18282" r="18040" t="0"/>
          <a:stretch/>
        </p:blipFill>
        <p:spPr>
          <a:xfrm>
            <a:off x="0" y="502250"/>
            <a:ext cx="2062125" cy="17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body"/>
          </p:nvPr>
        </p:nvSpPr>
        <p:spPr>
          <a:xfrm>
            <a:off x="453400" y="0"/>
            <a:ext cx="7335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ALTA DE USUARIO</a:t>
            </a:r>
            <a:endParaRPr sz="28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80" name="Google Shape;80;p14" title="Captura de pantalla 2026-06-05 1408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650" y="1993250"/>
            <a:ext cx="3482800" cy="2501400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4"/>
          <p:cNvSpPr txBox="1"/>
          <p:nvPr/>
        </p:nvSpPr>
        <p:spPr>
          <a:xfrm>
            <a:off x="234500" y="953750"/>
            <a:ext cx="5925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Crear la identidad digital de un nuevo colaborador para que pueda trabajar desde su primer día, cumpliendo con los 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estándares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 se seguridad del sector bancario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25550" y="2229700"/>
            <a:ext cx="39318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Identificar el acceso necesario según el perfil y rol financiero.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Dar de alta al usuario aplicando el principio de mínimo privilegio.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Documentar la solicitud y cerrar el ticket.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515900" y="665250"/>
            <a:ext cx="71838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800"/>
              <a:t>PERFIL DEL USUARIO (ficticio)</a:t>
            </a:r>
            <a:endParaRPr sz="2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  <p:sp>
        <p:nvSpPr>
          <p:cNvPr id="88" name="Google Shape;88;p15"/>
          <p:cNvSpPr txBox="1"/>
          <p:nvPr/>
        </p:nvSpPr>
        <p:spPr>
          <a:xfrm>
            <a:off x="414275" y="1610275"/>
            <a:ext cx="45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14275" y="1538850"/>
            <a:ext cx="4643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Nombre: 	Santiago Rivera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Área: 		Cumplimiento y Riesgos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Rol:			Analista de PLD Jr.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ID:			FIN-9982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Herramientas requeridas: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Correo corporativo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Documentos compartidos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Accesos remotos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Consultas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5057971" y="2071976"/>
            <a:ext cx="4130352" cy="2603824"/>
            <a:chOff x="4916675" y="2071975"/>
            <a:chExt cx="3152700" cy="1987500"/>
          </a:xfrm>
        </p:grpSpPr>
        <p:pic>
          <p:nvPicPr>
            <p:cNvPr id="91" name="Google Shape;91;p15"/>
            <p:cNvPicPr preferRelativeResize="0"/>
            <p:nvPr/>
          </p:nvPicPr>
          <p:blipFill rotWithShape="1">
            <a:blip r:embed="rId3">
              <a:alphaModFix/>
            </a:blip>
            <a:srcRect b="0" l="2178" r="27558" t="18851"/>
            <a:stretch/>
          </p:blipFill>
          <p:spPr>
            <a:xfrm>
              <a:off x="4916675" y="2071975"/>
              <a:ext cx="3152700" cy="1987500"/>
            </a:xfrm>
            <a:prstGeom prst="ellipse">
              <a:avLst/>
            </a:prstGeom>
            <a:noFill/>
            <a:ln cap="flat" cmpd="sng" w="19050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2" name="Google Shape;92;p15"/>
            <p:cNvSpPr txBox="1"/>
            <p:nvPr/>
          </p:nvSpPr>
          <p:spPr>
            <a:xfrm rot="-927746">
              <a:off x="5773308" y="3130281"/>
              <a:ext cx="581756" cy="250226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17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Acceso</a:t>
              </a:r>
              <a:endParaRPr sz="917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17">
                  <a:solidFill>
                    <a:srgbClr val="FF0000"/>
                  </a:solidFill>
                  <a:latin typeface="Lato"/>
                  <a:ea typeface="Lato"/>
                  <a:cs typeface="Lato"/>
                  <a:sym typeface="Lato"/>
                </a:rPr>
                <a:t>DENEGADO</a:t>
              </a:r>
              <a:endParaRPr sz="917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A5A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157300" y="338200"/>
            <a:ext cx="393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FLUJO DE ATENCIÓN: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2708100" y="842350"/>
            <a:ext cx="372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MESA DE SERVICIO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0" y="2571750"/>
            <a:ext cx="9144000" cy="51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19128" l="0" r="0" t="18156"/>
          <a:stretch/>
        </p:blipFill>
        <p:spPr>
          <a:xfrm>
            <a:off x="1162500" y="1670350"/>
            <a:ext cx="6819000" cy="2584450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800"/>
              <a:t>RESULTADO</a:t>
            </a:r>
            <a:endParaRPr sz="2800" u="sng">
              <a:solidFill>
                <a:schemeClr val="accent5"/>
              </a:solidFill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13302" r="34677" t="39095"/>
          <a:stretch/>
        </p:blipFill>
        <p:spPr>
          <a:xfrm>
            <a:off x="3387225" y="1604975"/>
            <a:ext cx="4389724" cy="2805550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17"/>
          <p:cNvPicPr preferRelativeResize="0"/>
          <p:nvPr/>
        </p:nvPicPr>
        <p:blipFill rotWithShape="1">
          <a:blip r:embed="rId4">
            <a:alphaModFix/>
          </a:blip>
          <a:srcRect b="11766" l="39198" r="38876" t="9692"/>
          <a:stretch/>
        </p:blipFill>
        <p:spPr>
          <a:xfrm>
            <a:off x="6683325" y="489937"/>
            <a:ext cx="2005000" cy="3920600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7"/>
          <p:cNvSpPr txBox="1"/>
          <p:nvPr/>
        </p:nvSpPr>
        <p:spPr>
          <a:xfrm>
            <a:off x="2506225" y="984850"/>
            <a:ext cx="4253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Estado de solicitud: </a:t>
            </a:r>
            <a:r>
              <a:rPr lang="en" sz="1800">
                <a:solidFill>
                  <a:schemeClr val="lt1"/>
                </a:solidFill>
                <a:highlight>
                  <a:srgbClr val="38761D"/>
                </a:highlight>
                <a:latin typeface="Lato"/>
                <a:ea typeface="Lato"/>
                <a:cs typeface="Lato"/>
                <a:sym typeface="Lato"/>
              </a:rPr>
              <a:t> COMPLETADO  </a:t>
            </a:r>
            <a:endParaRPr sz="1800">
              <a:solidFill>
                <a:schemeClr val="lt1"/>
              </a:solidFill>
              <a:highlight>
                <a:srgbClr val="38761D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64550" y="1686025"/>
            <a:ext cx="2673300" cy="27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usuario ahora tiene acceso a la plataforma </a:t>
            </a:r>
            <a:endParaRPr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-142300"/>
            <a:ext cx="2436600" cy="11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Evidencias</a:t>
            </a:r>
            <a:endParaRPr sz="3400"/>
          </a:p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172575" y="1042200"/>
            <a:ext cx="2229600" cy="12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Simulación</a:t>
            </a:r>
            <a:r>
              <a:rPr lang="en" sz="2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de ticket</a:t>
            </a:r>
            <a:endParaRPr sz="2700"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600" y="525325"/>
            <a:ext cx="5050451" cy="3114150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