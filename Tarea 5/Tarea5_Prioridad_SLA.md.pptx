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aleway"/>
      <p:regular r:id="rId8"/>
      <p:bold r:id="rId9"/>
      <p:italic r:id="rId10"/>
      <p:boldItalic r:id="rId11"/>
    </p:embeddedFont>
    <p:embeddedFont>
      <p:font typeface="La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-boldItalic.fntdata"/><Relationship Id="rId10" Type="http://schemas.openxmlformats.org/officeDocument/2006/relationships/font" Target="fonts/Raleway-italic.fntdata"/><Relationship Id="rId13" Type="http://schemas.openxmlformats.org/officeDocument/2006/relationships/font" Target="fonts/Lato-bold.fntdata"/><Relationship Id="rId12" Type="http://schemas.openxmlformats.org/officeDocument/2006/relationships/font" Target="fonts/La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-bold.fntdata"/><Relationship Id="rId15" Type="http://schemas.openxmlformats.org/officeDocument/2006/relationships/font" Target="fonts/Lato-boldItalic.fntdata"/><Relationship Id="rId14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aleway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b9a0b074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b9a0b074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5b15f0a3_5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5b15f0a3_5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" name="Google Shape;12;p2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2371725" y="630225"/>
            <a:ext cx="6331500" cy="15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06425" y="1806825"/>
            <a:ext cx="8296800" cy="15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4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" name="Google Shape;25;p4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Google Shape;29;p5"/>
          <p:cNvCxnSpPr/>
          <p:nvPr/>
        </p:nvCxnSpPr>
        <p:spPr>
          <a:xfrm>
            <a:off x="2477724" y="415650"/>
            <a:ext cx="62442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5"/>
          <p:cNvCxnSpPr/>
          <p:nvPr/>
        </p:nvCxnSpPr>
        <p:spPr>
          <a:xfrm>
            <a:off x="2477724" y="4740000"/>
            <a:ext cx="6244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5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5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2400303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5650572" y="1602675"/>
            <a:ext cx="3071400" cy="300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3300" y="411575"/>
            <a:ext cx="85206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Google Shape;40;p7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7"/>
          <p:cNvSpPr txBox="1"/>
          <p:nvPr>
            <p:ph type="title"/>
          </p:nvPr>
        </p:nvSpPr>
        <p:spPr>
          <a:xfrm>
            <a:off x="319500" y="936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19500" y="1846804"/>
            <a:ext cx="2808000" cy="28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Google Shape;45;p8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8"/>
          <p:cNvSpPr txBox="1"/>
          <p:nvPr>
            <p:ph type="title"/>
          </p:nvPr>
        </p:nvSpPr>
        <p:spPr>
          <a:xfrm>
            <a:off x="283103" y="712141"/>
            <a:ext cx="6244200" cy="383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397350"/>
            <a:ext cx="4045200" cy="1318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73537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0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" name="Google Shape;57;p10"/>
          <p:cNvCxnSpPr/>
          <p:nvPr/>
        </p:nvCxnSpPr>
        <p:spPr>
          <a:xfrm>
            <a:off x="425198" y="415650"/>
            <a:ext cx="183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28017" y="4226025"/>
            <a:ext cx="83886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25200" y="4740000"/>
            <a:ext cx="82968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1"/>
          <p:cNvCxnSpPr/>
          <p:nvPr/>
        </p:nvCxnSpPr>
        <p:spPr>
          <a:xfrm>
            <a:off x="425200" y="415650"/>
            <a:ext cx="8296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11"/>
          <p:cNvSpPr txBox="1"/>
          <p:nvPr>
            <p:ph hasCustomPrompt="1" type="title"/>
          </p:nvPr>
        </p:nvSpPr>
        <p:spPr>
          <a:xfrm>
            <a:off x="853950" y="1304850"/>
            <a:ext cx="74361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9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853950" y="2919450"/>
            <a:ext cx="74361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5" name="Google Shape;65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rgbClr val="76A5A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400250" y="575950"/>
            <a:ext cx="63216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sz="30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410112" y="1595776"/>
            <a:ext cx="6321600" cy="30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type="ctrTitle"/>
          </p:nvPr>
        </p:nvSpPr>
        <p:spPr>
          <a:xfrm>
            <a:off x="2371725" y="630225"/>
            <a:ext cx="6331500" cy="26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</a:t>
            </a:r>
            <a:r>
              <a:rPr lang="en"/>
              <a:t>EA 5: Gestión de Incidentes: Priorización y SLA</a:t>
            </a:r>
            <a:endParaRPr b="0" sz="4150">
              <a:solidFill>
                <a:srgbClr val="333333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3"/>
          <p:cNvSpPr txBox="1"/>
          <p:nvPr>
            <p:ph idx="1" type="subTitle"/>
          </p:nvPr>
        </p:nvSpPr>
        <p:spPr>
          <a:xfrm>
            <a:off x="2390267" y="3238450"/>
            <a:ext cx="6331500" cy="1241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Equipo CORE V TECH</a:t>
            </a:r>
            <a:endParaRPr b="1" sz="2400"/>
          </a:p>
        </p:txBody>
      </p:sp>
      <p:pic>
        <p:nvPicPr>
          <p:cNvPr id="74" name="Google Shape;74;p13"/>
          <p:cNvPicPr preferRelativeResize="0"/>
          <p:nvPr/>
        </p:nvPicPr>
        <p:blipFill rotWithShape="1">
          <a:blip r:embed="rId3">
            <a:alphaModFix/>
          </a:blip>
          <a:srcRect b="0" l="18282" r="18040" t="0"/>
          <a:stretch/>
        </p:blipFill>
        <p:spPr>
          <a:xfrm>
            <a:off x="0" y="502250"/>
            <a:ext cx="2062125" cy="176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29850"/>
            <a:ext cx="8839200" cy="3060192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 txBox="1"/>
          <p:nvPr/>
        </p:nvSpPr>
        <p:spPr>
          <a:xfrm>
            <a:off x="-39300" y="482775"/>
            <a:ext cx="7259100" cy="5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" sz="2550">
                <a:solidFill>
                  <a:srgbClr val="0F172A"/>
                </a:solidFill>
              </a:rPr>
              <a:t>Matriz de Prioridades y SLAs</a:t>
            </a:r>
            <a:endParaRPr b="1" sz="2550">
              <a:solidFill>
                <a:srgbClr val="0F172A"/>
              </a:solidFill>
            </a:endParaRPr>
          </a:p>
          <a:p>
            <a:pPr indent="0" lvl="0" marL="0" rtl="0" algn="l">
              <a:spcBef>
                <a:spcPts val="23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