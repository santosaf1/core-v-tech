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.fntdata"/><Relationship Id="rId6" Type="http://schemas.openxmlformats.org/officeDocument/2006/relationships/slide" Target="slides/slide1.xml"/><Relationship Id="rId18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80d1f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80d1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6f80d1f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6f80d1f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716c6ef62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716c6ef62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716c6ef62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716c6ef62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716c6ef62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716c6ef62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c6f80d1ff_0_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c6f80d1f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c6f80d1ff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c6f80d1f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716c6ef62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716c6ef62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Core-V-Tech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“Descifrando el lenguaje de las máquinas”</a:t>
            </a:r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6075" y="1405303"/>
            <a:ext cx="3742300" cy="2038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93" name="Google Shape;93;p14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rgbClr val="757575"/>
                </a:solidFill>
                <a:latin typeface="Raleway"/>
                <a:ea typeface="Raleway"/>
                <a:cs typeface="Raleway"/>
                <a:sym typeface="Raleway"/>
              </a:rPr>
              <a:t>1. Aprendizaje</a:t>
            </a:r>
            <a:endParaRPr b="1" sz="3000">
              <a:solidFill>
                <a:srgbClr val="757575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855550" y="1377480"/>
            <a:ext cx="3432900" cy="3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79B"/>
              </a:buClr>
              <a:buSzPts val="1400"/>
              <a:buFont typeface="Raleway"/>
              <a:buChar char="➔"/>
            </a:pPr>
            <a:r>
              <a:rPr b="1" lang="es">
                <a:solidFill>
                  <a:srgbClr val="01579B"/>
                </a:solidFill>
                <a:latin typeface="Raleway"/>
                <a:ea typeface="Raleway"/>
                <a:cs typeface="Raleway"/>
                <a:sym typeface="Raleway"/>
              </a:rPr>
              <a:t>BINARIO</a:t>
            </a:r>
            <a:br>
              <a:rPr lang="es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s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¿Qué es? Y ¿</a:t>
            </a: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Cómo</a:t>
            </a:r>
            <a:r>
              <a:rPr lang="es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funciona? </a:t>
            </a: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Sistema de numeración base 2: 0 y 1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1579B"/>
              </a:buClr>
              <a:buSzPts val="1400"/>
              <a:buFont typeface="Raleway"/>
              <a:buChar char="➔"/>
            </a:pPr>
            <a:r>
              <a:rPr b="1" lang="es">
                <a:solidFill>
                  <a:srgbClr val="01579B"/>
                </a:solidFill>
                <a:latin typeface="Raleway"/>
                <a:ea typeface="Raleway"/>
                <a:cs typeface="Raleway"/>
                <a:sym typeface="Raleway"/>
              </a:rPr>
              <a:t>HEXADECIMAL</a:t>
            </a:r>
            <a:br>
              <a:rPr lang="es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s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¿Qué es? Y ¿Por qué se usa? </a:t>
            </a: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Sistema de base 16 (0-9 y A-F). Se usa en programación para entender mejor el binario.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1579B"/>
              </a:buClr>
              <a:buSzPts val="1400"/>
              <a:buFont typeface="Raleway"/>
              <a:buChar char="➔"/>
            </a:pPr>
            <a:r>
              <a:rPr b="1" lang="es">
                <a:solidFill>
                  <a:srgbClr val="01579B"/>
                </a:solidFill>
                <a:latin typeface="Raleway"/>
                <a:ea typeface="Raleway"/>
                <a:cs typeface="Raleway"/>
                <a:sym typeface="Raleway"/>
              </a:rPr>
              <a:t>APLICACIONES</a:t>
            </a:r>
            <a:br>
              <a:rPr lang="es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s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Uso de sistemas en soporte </a:t>
            </a: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técnico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265500" y="326650"/>
            <a:ext cx="4045200" cy="98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BINARIO</a:t>
            </a:r>
            <a:endParaRPr/>
          </a:p>
        </p:txBody>
      </p:sp>
      <p:sp>
        <p:nvSpPr>
          <p:cNvPr id="101" name="Google Shape;101;p15"/>
          <p:cNvSpPr txBox="1"/>
          <p:nvPr>
            <p:ph idx="1" type="subTitle"/>
          </p:nvPr>
        </p:nvSpPr>
        <p:spPr>
          <a:xfrm>
            <a:off x="265500" y="131155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Sistema a base de </a:t>
            </a:r>
            <a:r>
              <a:rPr b="1" lang="es"/>
              <a:t>dos</a:t>
            </a:r>
            <a:r>
              <a:rPr lang="es"/>
              <a:t> </a:t>
            </a:r>
            <a:r>
              <a:rPr lang="es"/>
              <a:t>dígitos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 &amp; 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(encendido &amp; apagado)</a:t>
            </a:r>
            <a:endParaRPr/>
          </a:p>
        </p:txBody>
      </p:sp>
      <p:sp>
        <p:nvSpPr>
          <p:cNvPr id="102" name="Google Shape;102;p15"/>
          <p:cNvSpPr txBox="1"/>
          <p:nvPr>
            <p:ph idx="2" type="body"/>
          </p:nvPr>
        </p:nvSpPr>
        <p:spPr>
          <a:xfrm>
            <a:off x="4939500" y="724200"/>
            <a:ext cx="3837000" cy="21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Es el sistema de numeración que utilizan las computadoras internamente.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Cada uno de estos dígitos se llama </a:t>
            </a:r>
            <a:r>
              <a:rPr b="1" lang="es">
                <a:latin typeface="Arial"/>
                <a:ea typeface="Arial"/>
                <a:cs typeface="Arial"/>
                <a:sym typeface="Arial"/>
              </a:rPr>
              <a:t>bit</a:t>
            </a:r>
            <a:r>
              <a:rPr lang="es">
                <a:latin typeface="Arial"/>
                <a:ea typeface="Arial"/>
                <a:cs typeface="Arial"/>
                <a:sym typeface="Arial"/>
              </a:rPr>
              <a:t> (la unidad de información más pequeña).</a:t>
            </a:r>
            <a:endParaRPr/>
          </a:p>
        </p:txBody>
      </p:sp>
      <p:pic>
        <p:nvPicPr>
          <p:cNvPr id="103" name="Google Shape;10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488" y="3341550"/>
            <a:ext cx="5819775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265500" y="326650"/>
            <a:ext cx="4045200" cy="98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HEXADECIMAL</a:t>
            </a:r>
            <a:endParaRPr/>
          </a:p>
        </p:txBody>
      </p:sp>
      <p:sp>
        <p:nvSpPr>
          <p:cNvPr id="109" name="Google Shape;109;p16"/>
          <p:cNvSpPr txBox="1"/>
          <p:nvPr>
            <p:ph idx="1" type="subTitle"/>
          </p:nvPr>
        </p:nvSpPr>
        <p:spPr>
          <a:xfrm>
            <a:off x="265500" y="18487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Sistema a base de </a:t>
            </a:r>
            <a:r>
              <a:rPr lang="es"/>
              <a:t>dieciseis</a:t>
            </a:r>
            <a:r>
              <a:rPr lang="es"/>
              <a:t> dígitos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</a:t>
            </a:r>
            <a:r>
              <a:rPr lang="es"/>
              <a:t>  los humanos nos cuesta mucho leer filas largas de unos y ceros (binario).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El hexadecimal compacta el código.</a:t>
            </a:r>
            <a:endParaRPr/>
          </a:p>
        </p:txBody>
      </p:sp>
      <p:pic>
        <p:nvPicPr>
          <p:cNvPr id="111" name="Google Shape;111;p16" title="Captura de pantalla 2026-06-01 1458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505" y="3536975"/>
            <a:ext cx="6176700" cy="9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Casos de uso: binario vs hexadecimal</a:t>
            </a:r>
            <a:endParaRPr/>
          </a:p>
        </p:txBody>
      </p:sp>
      <p:pic>
        <p:nvPicPr>
          <p:cNvPr id="117" name="Google Shape;11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6850" y="1017812"/>
            <a:ext cx="6789891" cy="370658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 txBox="1"/>
          <p:nvPr/>
        </p:nvSpPr>
        <p:spPr>
          <a:xfrm>
            <a:off x="311700" y="4809333"/>
            <a:ext cx="88323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Binario: lenguaje de las </a:t>
            </a:r>
            <a:r>
              <a:rPr lang="es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máquinas 				</a:t>
            </a:r>
            <a:r>
              <a:rPr lang="es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Hexadecimal: lenguaje resumido para humanos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412650" y="776572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importancia a nivel técnico</a:t>
            </a:r>
            <a:endParaRPr/>
          </a:p>
        </p:txBody>
      </p:sp>
      <p:sp>
        <p:nvSpPr>
          <p:cNvPr id="124" name="Google Shape;124;p18"/>
          <p:cNvSpPr txBox="1"/>
          <p:nvPr/>
        </p:nvSpPr>
        <p:spPr>
          <a:xfrm>
            <a:off x="412650" y="1986925"/>
            <a:ext cx="8436000" cy="30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●"/>
            </a:pPr>
            <a:r>
              <a:rPr b="1" lang="es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Direcciones IP (IPv4 en binario)</a:t>
            </a:r>
            <a:endParaRPr b="1"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143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       Se utiliza para verificar la conectividad de los equipos y diagnosticar problemas de red.</a:t>
            </a:r>
            <a:endParaRPr b="1"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●"/>
            </a:pPr>
            <a:r>
              <a:rPr b="1" lang="es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Direcciones MAC (Hexadecimal)</a:t>
            </a:r>
            <a:endParaRPr b="1"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 utiliza para identificar dispositivos específicos en la red, controlar accesos y resolver problemas                  de conectividad.</a:t>
            </a:r>
            <a:r>
              <a:rPr lang="es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    </a:t>
            </a:r>
            <a:endParaRPr b="1"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●"/>
            </a:pPr>
            <a:r>
              <a:rPr b="1" lang="es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Comandos como ping, ipconfig, ifconfig</a:t>
            </a:r>
            <a:endParaRPr b="1"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143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        </a:t>
            </a:r>
            <a:r>
              <a:rPr lang="es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 utilizan para diagnosticar fallas de conectividad paso a paso.</a:t>
            </a:r>
            <a:endParaRPr b="1"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Desconocimiento</a:t>
            </a:r>
            <a:endParaRPr/>
          </a:p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311700" y="1465800"/>
            <a:ext cx="28725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/>
              <a:t>Un técnico que no comprende estos conceptos trabajará "adivinando" o dependiendo enteramente de herramientas automatizadas. No sabrá interpretar un análisis de Wireshark, no podrá segmentar redes de forma manual y tardará mucho más en resolver problemas de enrutamiento complejos. </a:t>
            </a:r>
            <a:endParaRPr sz="1500"/>
          </a:p>
        </p:txBody>
      </p:sp>
      <p:pic>
        <p:nvPicPr>
          <p:cNvPr descr="Ordenador portátil Chromebook abierto" id="131" name="Google Shape;13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2975" y="697325"/>
            <a:ext cx="5591976" cy="33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jemplo de trama de una aplicación de escritorio" id="132" name="Google Shape;132;p19"/>
          <p:cNvPicPr preferRelativeResize="0"/>
          <p:nvPr/>
        </p:nvPicPr>
        <p:blipFill rotWithShape="1">
          <a:blip r:embed="rId4">
            <a:alphaModFix/>
          </a:blip>
          <a:srcRect b="24801" l="0" r="0" t="0"/>
          <a:stretch/>
        </p:blipFill>
        <p:spPr>
          <a:xfrm>
            <a:off x="4131700" y="978250"/>
            <a:ext cx="4142049" cy="23359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jemplo de trama de una aplicación móvil" id="133" name="Google Shape;13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9175" y="1858795"/>
            <a:ext cx="1514675" cy="2692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311700" y="910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Reflexiones individuales ¿Por qué no ignorarlo?</a:t>
            </a:r>
            <a:endParaRPr/>
          </a:p>
        </p:txBody>
      </p:sp>
      <p:sp>
        <p:nvSpPr>
          <p:cNvPr id="139" name="Google Shape;139;p20"/>
          <p:cNvSpPr txBox="1"/>
          <p:nvPr>
            <p:ph idx="1" type="body"/>
          </p:nvPr>
        </p:nvSpPr>
        <p:spPr>
          <a:xfrm>
            <a:off x="311700" y="698825"/>
            <a:ext cx="8520600" cy="41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333333"/>
                </a:solidFill>
                <a:highlight>
                  <a:schemeClr val="accent5"/>
                </a:highlight>
              </a:rPr>
              <a:t>Ana</a:t>
            </a:r>
            <a:r>
              <a:rPr lang="es" sz="1500">
                <a:solidFill>
                  <a:srgbClr val="333333"/>
                </a:solidFill>
                <a:highlight>
                  <a:srgbClr val="FFFFFF"/>
                </a:highlight>
              </a:rPr>
              <a:t>: porque son la base del funcionamiento de las computadoras, redes y dispositivos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>
                <a:highlight>
                  <a:schemeClr val="accent5"/>
                </a:highlight>
              </a:rPr>
              <a:t>Iván</a:t>
            </a:r>
            <a:r>
              <a:rPr lang="es" sz="1500"/>
              <a:t>: </a:t>
            </a:r>
            <a:r>
              <a:rPr lang="es" sz="1500">
                <a:solidFill>
                  <a:srgbClr val="333333"/>
                </a:solidFill>
                <a:highlight>
                  <a:srgbClr val="FFFFFF"/>
                </a:highlight>
              </a:rPr>
              <a:t>Un técnico que no entiende binario solo copia comandos. Un técnico que lo entiende, resuelve problemas.</a:t>
            </a:r>
            <a:r>
              <a:rPr lang="e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>
                <a:highlight>
                  <a:schemeClr val="accent5"/>
                </a:highlight>
              </a:rPr>
              <a:t>Itzel</a:t>
            </a:r>
            <a:r>
              <a:rPr lang="es" sz="1500"/>
              <a:t>: </a:t>
            </a:r>
            <a:r>
              <a:rPr lang="es" sz="1500"/>
              <a:t>Son la base del funcionamiento de las computadoras, redes y sistemas digitales, comprender los sistemas permite diagnosticar problemas con mayor </a:t>
            </a:r>
            <a:r>
              <a:rPr lang="es" sz="1500"/>
              <a:t>precisión</a:t>
            </a:r>
            <a:r>
              <a:rPr lang="es" sz="1500"/>
              <a:t> y tomar decisiones técnicas para resolverlo.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>
                <a:highlight>
                  <a:schemeClr val="accent5"/>
                </a:highlight>
              </a:rPr>
              <a:t>A</a:t>
            </a:r>
            <a:r>
              <a:rPr lang="es" sz="1500">
                <a:highlight>
                  <a:schemeClr val="accent5"/>
                </a:highlight>
              </a:rPr>
              <a:t>rm</a:t>
            </a:r>
            <a:r>
              <a:rPr lang="es" sz="1500">
                <a:highlight>
                  <a:schemeClr val="accent5"/>
                </a:highlight>
              </a:rPr>
              <a:t>ando:</a:t>
            </a:r>
            <a:r>
              <a:rPr lang="es" sz="1500"/>
              <a:t>El binario y el hexadecimal no son solo teoría matemática, sino las herramientas reales que nos permiten diagnosticar redes, leer errores de hardware y dejar de adivinar en soporte técnico. 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500">
                <a:highlight>
                  <a:schemeClr val="accent5"/>
                </a:highlight>
              </a:rPr>
              <a:t>Dani Rubí</a:t>
            </a:r>
            <a:r>
              <a:rPr lang="es" sz="1500">
                <a:highlight>
                  <a:schemeClr val="accent5"/>
                </a:highlight>
              </a:rPr>
              <a:t>:</a:t>
            </a:r>
            <a:r>
              <a:rPr lang="es" sz="1500"/>
              <a:t>Porque son la base real en la que operan las redes, las direcciones IP y las direcciones MAC. Si los ignoramos, terminamos trabajando a ciegas y "adivinando" las soluciones en lugar de diagnosticar el problema de verdad. </a:t>
            </a:r>
            <a:endParaRPr sz="1500">
              <a:highlight>
                <a:srgbClr val="F8FAFD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