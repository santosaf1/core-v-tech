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Inter SemiBold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07703b7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07703b79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22" Type="http://schemas.openxmlformats.org/officeDocument/2006/relationships/image" Target="../media/image22.png"/><Relationship Id="rId21" Type="http://schemas.openxmlformats.org/officeDocument/2006/relationships/image" Target="../media/image7.png"/><Relationship Id="rId24" Type="http://schemas.openxmlformats.org/officeDocument/2006/relationships/image" Target="../media/image24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26" Type="http://schemas.openxmlformats.org/officeDocument/2006/relationships/image" Target="../media/image20.png"/><Relationship Id="rId25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14.png"/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25.png"/><Relationship Id="rId15" Type="http://schemas.openxmlformats.org/officeDocument/2006/relationships/image" Target="../media/image1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5.png"/><Relationship Id="rId19" Type="http://schemas.openxmlformats.org/officeDocument/2006/relationships/image" Target="../media/image9.png"/><Relationship Id="rId1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474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8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ACTIVIDAD 7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0" y="502250"/>
            <a:ext cx="2062125" cy="1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>
            <p:ph type="ctrTitle"/>
          </p:nvPr>
        </p:nvSpPr>
        <p:spPr>
          <a:xfrm>
            <a:off x="2301725" y="1482525"/>
            <a:ext cx="6331500" cy="22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Documentación y Base de Conocimiento</a:t>
            </a:r>
            <a:endParaRPr sz="4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" name="Google Shape;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350" y="751477"/>
            <a:ext cx="2071700" cy="1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" name="Google Shape;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50" y="2571750"/>
            <a:ext cx="2071700" cy="19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" name="Google Shape;8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9988" y="4305575"/>
            <a:ext cx="3629100" cy="62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" name="Google Shape;8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6563" y="1092994"/>
            <a:ext cx="2071688" cy="1178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" name="Google Shape;8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6563" y="2414588"/>
            <a:ext cx="2071688" cy="1321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85594" y="1224513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91319" y="1594131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91319" y="1950338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83094" y="238429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85594" y="2825381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83106" y="3225800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85594" y="3754739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28481" y="2517531"/>
            <a:ext cx="3629025" cy="214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44944" y="3476888"/>
            <a:ext cx="3629025" cy="21498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358075" y="417900"/>
            <a:ext cx="150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¿A quién aplica?</a:t>
            </a:r>
            <a:r>
              <a:rPr b="0" i="0" lang="en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9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 Usuarios de equip</a:t>
            </a:r>
            <a:r>
              <a:rPr lang="en" sz="9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os conexión Wi-Fi o cable de red (LAN)  </a:t>
            </a:r>
            <a:endParaRPr sz="1100"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38925" y="197175"/>
            <a:ext cx="147161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38925" y="397200"/>
            <a:ext cx="409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Sin Conexión a Internet (Wi-Fi/LAN)</a:t>
            </a:r>
            <a:endParaRPr sz="1100"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72338" y="560784"/>
            <a:ext cx="8572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492815" y="887200"/>
            <a:ext cx="163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SÍNTOMAS DEL ERROR</a:t>
            </a:r>
            <a:endParaRPr sz="1100"/>
          </a:p>
        </p:txBody>
      </p:sp>
      <p:sp>
        <p:nvSpPr>
          <p:cNvPr id="99" name="Google Shape;99;p14"/>
          <p:cNvSpPr txBox="1"/>
          <p:nvPr/>
        </p:nvSpPr>
        <p:spPr>
          <a:xfrm>
            <a:off x="471615" y="2669488"/>
            <a:ext cx="163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BB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CAUSAS PROBABLES</a:t>
            </a:r>
            <a:endParaRPr sz="1100"/>
          </a:p>
        </p:txBody>
      </p:sp>
      <p:sp>
        <p:nvSpPr>
          <p:cNvPr id="100" name="Google Shape;100;p14"/>
          <p:cNvSpPr txBox="1"/>
          <p:nvPr/>
        </p:nvSpPr>
        <p:spPr>
          <a:xfrm>
            <a:off x="2746328" y="1010200"/>
            <a:ext cx="3711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PROCEDIMIENTO DE SOLUCIÓN PASO A PASO</a:t>
            </a:r>
            <a:endParaRPr sz="1100"/>
          </a:p>
        </p:txBody>
      </p:sp>
      <p:sp>
        <p:nvSpPr>
          <p:cNvPr id="101" name="Google Shape;101;p14"/>
          <p:cNvSpPr txBox="1"/>
          <p:nvPr/>
        </p:nvSpPr>
        <p:spPr>
          <a:xfrm>
            <a:off x="7083028" y="1228725"/>
            <a:ext cx="163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CRITERIOS DE VALIDACIÓN</a:t>
            </a:r>
            <a:endParaRPr sz="1100"/>
          </a:p>
        </p:txBody>
      </p:sp>
      <p:sp>
        <p:nvSpPr>
          <p:cNvPr id="102" name="Google Shape;102;p14"/>
          <p:cNvSpPr txBox="1"/>
          <p:nvPr/>
        </p:nvSpPr>
        <p:spPr>
          <a:xfrm>
            <a:off x="7083028" y="2550319"/>
            <a:ext cx="1639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B92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ESCALAMIENTO</a:t>
            </a:r>
            <a:endParaRPr sz="1100"/>
          </a:p>
        </p:txBody>
      </p:sp>
      <p:sp>
        <p:nvSpPr>
          <p:cNvPr id="103" name="Google Shape;103;p14"/>
          <p:cNvSpPr txBox="1"/>
          <p:nvPr/>
        </p:nvSpPr>
        <p:spPr>
          <a:xfrm>
            <a:off x="6922294" y="2757488"/>
            <a:ext cx="18003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tras finalizar la guía la incidencia continúa sin resolverse:</a:t>
            </a:r>
            <a:endParaRPr sz="1100">
              <a:solidFill>
                <a:schemeClr val="accent2"/>
              </a:solidFill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56376" y="4105500"/>
            <a:ext cx="1321575" cy="132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2081" y="897915"/>
            <a:ext cx="10358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60669" y="1094369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Imposibilidad total de navegar por Internet.</a:t>
            </a:r>
            <a:endParaRPr sz="1100"/>
          </a:p>
        </p:txBody>
      </p:sp>
      <p:sp>
        <p:nvSpPr>
          <p:cNvPr id="107" name="Google Shape;107;p14"/>
          <p:cNvSpPr txBox="1"/>
          <p:nvPr/>
        </p:nvSpPr>
        <p:spPr>
          <a:xfrm>
            <a:off x="460669" y="1401550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Mensaje de sistema </a:t>
            </a:r>
            <a:r>
              <a:rPr b="1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"Sin acceso a Internet"</a:t>
            </a: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08" name="Google Shape;108;p14"/>
          <p:cNvSpPr txBox="1"/>
          <p:nvPr/>
        </p:nvSpPr>
        <p:spPr>
          <a:xfrm>
            <a:off x="460669" y="1708731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aplicaciones locales no logran conectarse.</a:t>
            </a:r>
            <a:endParaRPr sz="1100"/>
          </a:p>
        </p:txBody>
      </p:sp>
      <p:sp>
        <p:nvSpPr>
          <p:cNvPr id="109" name="Google Shape;109;p14"/>
          <p:cNvSpPr txBox="1"/>
          <p:nvPr/>
        </p:nvSpPr>
        <p:spPr>
          <a:xfrm>
            <a:off x="460669" y="2015913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ícono de red muestra una advertencia o una "X".</a:t>
            </a:r>
            <a:endParaRPr sz="1100"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32081" y="2693250"/>
            <a:ext cx="10358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39144" y="2876794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Wi-Fi desactivado o interruptor físico apagado.</a:t>
            </a:r>
            <a:endParaRPr sz="1100"/>
          </a:p>
        </p:txBody>
      </p:sp>
      <p:sp>
        <p:nvSpPr>
          <p:cNvPr id="112" name="Google Shape;112;p14"/>
          <p:cNvSpPr txBox="1"/>
          <p:nvPr/>
        </p:nvSpPr>
        <p:spPr>
          <a:xfrm>
            <a:off x="439144" y="3183975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Cable de red (LAN) desconectado o dañado.</a:t>
            </a:r>
            <a:endParaRPr sz="1100"/>
          </a:p>
        </p:txBody>
      </p:sp>
      <p:sp>
        <p:nvSpPr>
          <p:cNvPr id="113" name="Google Shape;113;p14"/>
          <p:cNvSpPr txBox="1"/>
          <p:nvPr/>
        </p:nvSpPr>
        <p:spPr>
          <a:xfrm>
            <a:off x="439144" y="3491156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Dirección IP local no asignada correctamente.</a:t>
            </a:r>
            <a:endParaRPr sz="1100"/>
          </a:p>
        </p:txBody>
      </p:sp>
      <p:sp>
        <p:nvSpPr>
          <p:cNvPr id="114" name="Google Shape;114;p14"/>
          <p:cNvSpPr txBox="1"/>
          <p:nvPr/>
        </p:nvSpPr>
        <p:spPr>
          <a:xfrm>
            <a:off x="439144" y="3798338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Adaptador de red deshabilitado por el sistema.</a:t>
            </a:r>
            <a:endParaRPr sz="1100"/>
          </a:p>
        </p:txBody>
      </p:sp>
      <p:sp>
        <p:nvSpPr>
          <p:cNvPr id="115" name="Google Shape;115;p14"/>
          <p:cNvSpPr txBox="1"/>
          <p:nvPr/>
        </p:nvSpPr>
        <p:spPr>
          <a:xfrm>
            <a:off x="439144" y="4105519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Problema de enlace temporal en el módem/router.</a:t>
            </a:r>
            <a:endParaRPr sz="1100"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585581" y="4364174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585594" y="1020915"/>
            <a:ext cx="103584" cy="10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922294" y="1239440"/>
            <a:ext cx="10358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050881" y="1435894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navegador web carga contenido con normalidad.</a:t>
            </a:r>
            <a:endParaRPr sz="1100"/>
          </a:p>
        </p:txBody>
      </p:sp>
      <p:sp>
        <p:nvSpPr>
          <p:cNvPr id="120" name="Google Shape;120;p14"/>
          <p:cNvSpPr txBox="1"/>
          <p:nvPr/>
        </p:nvSpPr>
        <p:spPr>
          <a:xfrm>
            <a:off x="7050877" y="1743075"/>
            <a:ext cx="1193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comando de prueba responde exitosamente.</a:t>
            </a:r>
            <a:endParaRPr sz="1100"/>
          </a:p>
        </p:txBody>
      </p:sp>
      <p:sp>
        <p:nvSpPr>
          <p:cNvPr id="121" name="Google Shape;121;p14"/>
          <p:cNvSpPr txBox="1"/>
          <p:nvPr/>
        </p:nvSpPr>
        <p:spPr>
          <a:xfrm>
            <a:off x="7050881" y="2050256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 aplicativos corporativos vuelven a establecer conexión.</a:t>
            </a:r>
            <a:endParaRPr sz="1100"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922294" y="2561034"/>
            <a:ext cx="10358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7050881" y="3018904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Escalar el caso al equipo de </a:t>
            </a:r>
            <a:r>
              <a:rPr b="1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Infraestructura o Redes</a:t>
            </a: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24" name="Google Shape;124;p14"/>
          <p:cNvSpPr txBox="1"/>
          <p:nvPr/>
        </p:nvSpPr>
        <p:spPr>
          <a:xfrm>
            <a:off x="7050881" y="3326085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Adjuntar capturas del código de error / terminal.</a:t>
            </a:r>
            <a:endParaRPr sz="1100"/>
          </a:p>
        </p:txBody>
      </p:sp>
      <p:sp>
        <p:nvSpPr>
          <p:cNvPr id="125" name="Google Shape;125;p14"/>
          <p:cNvSpPr txBox="1"/>
          <p:nvPr/>
        </p:nvSpPr>
        <p:spPr>
          <a:xfrm>
            <a:off x="7050881" y="3633266"/>
            <a:ext cx="1671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Indicar si afecta a un </a:t>
            </a:r>
            <a:r>
              <a:rPr b="1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único usuario o a varios</a:t>
            </a:r>
            <a:r>
              <a:rPr b="0" i="0" lang="en" sz="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26" name="Google Shape;126;p14"/>
          <p:cNvSpPr txBox="1"/>
          <p:nvPr/>
        </p:nvSpPr>
        <p:spPr>
          <a:xfrm>
            <a:off x="2735456" y="4382274"/>
            <a:ext cx="1657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DE047"/>
                </a:solidFill>
                <a:latin typeface="Inter"/>
                <a:ea typeface="Inter"/>
                <a:cs typeface="Inter"/>
                <a:sym typeface="Inter"/>
              </a:rPr>
              <a:t>Nota de seguridad de TI:</a:t>
            </a:r>
            <a:endParaRPr sz="1100"/>
          </a:p>
        </p:txBody>
      </p:sp>
      <p:sp>
        <p:nvSpPr>
          <p:cNvPr id="127" name="Google Shape;127;p14"/>
          <p:cNvSpPr txBox="1"/>
          <p:nvPr/>
        </p:nvSpPr>
        <p:spPr>
          <a:xfrm>
            <a:off x="2645788" y="4564175"/>
            <a:ext cx="3217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No comparta contraseñas de red corporativa ni altere configuraciones avanzadas del sistema sin autorización previa del área de soporte técnico.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2828481" y="1217369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Asegurar que el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Wi-Fi esté activo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 la barra de tareas o que el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cable de red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esté conectado correctamente.</a:t>
            </a:r>
            <a:endParaRPr sz="1100"/>
          </a:p>
        </p:txBody>
      </p:sp>
      <p:sp>
        <p:nvSpPr>
          <p:cNvPr id="129" name="Google Shape;129;p14"/>
          <p:cNvSpPr txBox="1"/>
          <p:nvPr/>
        </p:nvSpPr>
        <p:spPr>
          <a:xfrm>
            <a:off x="2834206" y="1586988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Verificar y confirmar que el equipo se encuentre enlazado a la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red de oficina/hogar correcta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30" name="Google Shape;130;p14"/>
          <p:cNvSpPr txBox="1"/>
          <p:nvPr/>
        </p:nvSpPr>
        <p:spPr>
          <a:xfrm>
            <a:off x="2834206" y="1943194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Reiniciar el módem o router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(desconectarlo por 10 seg, volver a conectar y esperar 2 minutos a que se establezca) y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reiniciar el equipo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31" name="Google Shape;131;p14"/>
          <p:cNvSpPr txBox="1"/>
          <p:nvPr/>
        </p:nvSpPr>
        <p:spPr>
          <a:xfrm>
            <a:off x="2828481" y="2818238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Verificar que el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adaptador de red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no esté deshabilitado ingresando al </a:t>
            </a:r>
            <a:r>
              <a:rPr b="0" i="1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Administrador de dispositivos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32" name="Google Shape;132;p14"/>
          <p:cNvSpPr txBox="1"/>
          <p:nvPr/>
        </p:nvSpPr>
        <p:spPr>
          <a:xfrm>
            <a:off x="2828481" y="3747595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Si el problema persiste, ejecutar el </a:t>
            </a: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Solucionador de problemas de red de Windows</a:t>
            </a:r>
            <a:r>
              <a:rPr b="0" i="0" lang="en" sz="7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desde Configuración.</a:t>
            </a:r>
            <a:endParaRPr sz="1100"/>
          </a:p>
        </p:txBody>
      </p:sp>
      <p:pic>
        <p:nvPicPr>
          <p:cNvPr descr="image.png" id="133" name="Google Shape;133;p1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010306" y="1725319"/>
            <a:ext cx="657225" cy="1214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2842419" y="2409031"/>
            <a:ext cx="3629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Terminal / Símbolo del sistema (Ej en Windows)</a:t>
            </a:r>
            <a:endParaRPr sz="1100"/>
          </a:p>
        </p:txBody>
      </p:sp>
      <p:sp>
        <p:nvSpPr>
          <p:cNvPr id="135" name="Google Shape;135;p14"/>
          <p:cNvSpPr txBox="1"/>
          <p:nvPr/>
        </p:nvSpPr>
        <p:spPr>
          <a:xfrm>
            <a:off x="2842424" y="3227238"/>
            <a:ext cx="362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Probar el estado de conexión externa abriendo una pestaña web o ejecutando en terminal: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