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aleway"/>
      <p:regular r:id="rId10"/>
      <p:bold r:id="rId11"/>
      <p:italic r:id="rId12"/>
      <p:boldItalic r:id="rId13"/>
    </p:embeddedFont>
    <p:embeddedFont>
      <p:font typeface="Nunito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Maven Pro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font" Target="fonts/Raleway-bold.fntdata"/><Relationship Id="rId22" Type="http://schemas.openxmlformats.org/officeDocument/2006/relationships/font" Target="fonts/MavenPro-regular.fntdata"/><Relationship Id="rId10" Type="http://schemas.openxmlformats.org/officeDocument/2006/relationships/font" Target="fonts/Raleway-regular.fntdata"/><Relationship Id="rId21" Type="http://schemas.openxmlformats.org/officeDocument/2006/relationships/font" Target="fonts/Lato-boldItalic.fntdata"/><Relationship Id="rId13" Type="http://schemas.openxmlformats.org/officeDocument/2006/relationships/font" Target="fonts/Raleway-boldItalic.fntdata"/><Relationship Id="rId12" Type="http://schemas.openxmlformats.org/officeDocument/2006/relationships/font" Target="fonts/Raleway-italic.fntdata"/><Relationship Id="rId23" Type="http://schemas.openxmlformats.org/officeDocument/2006/relationships/font" Target="fonts/MavenPr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ccfd3672b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ccfd3672b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rgbClr val="76A5A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117475" y="615600"/>
            <a:ext cx="68571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250">
                <a:latin typeface="Lato"/>
                <a:ea typeface="Lato"/>
                <a:cs typeface="Lato"/>
                <a:sym typeface="Lato"/>
              </a:rPr>
              <a:t>TAREA 2.</a:t>
            </a:r>
            <a:r>
              <a:rPr b="0" lang="en" sz="2950"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" sz="2900">
                <a:latin typeface="Lato"/>
                <a:ea typeface="Lato"/>
                <a:cs typeface="Lato"/>
                <a:sym typeface="Lato"/>
              </a:rPr>
              <a:t>Atención al Usuario y Gestión de Incidentes (Mesa de Servicio)</a:t>
            </a:r>
            <a:endParaRPr sz="29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419600" y="3238450"/>
            <a:ext cx="3345900" cy="64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Equipo CORE V TECH</a:t>
            </a:r>
            <a:endParaRPr b="1" sz="2400"/>
          </a:p>
        </p:txBody>
      </p:sp>
      <p:pic>
        <p:nvPicPr>
          <p:cNvPr id="74" name="Google Shape;74;p13"/>
          <p:cNvPicPr preferRelativeResize="0"/>
          <p:nvPr/>
        </p:nvPicPr>
        <p:blipFill rotWithShape="1">
          <a:blip r:embed="rId3">
            <a:alphaModFix/>
          </a:blip>
          <a:srcRect b="0" l="18282" r="18040" t="0"/>
          <a:stretch/>
        </p:blipFill>
        <p:spPr>
          <a:xfrm>
            <a:off x="55350" y="1474875"/>
            <a:ext cx="2062125" cy="17635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 txBox="1"/>
          <p:nvPr/>
        </p:nvSpPr>
        <p:spPr>
          <a:xfrm>
            <a:off x="6219850" y="2854950"/>
            <a:ext cx="2535000" cy="17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D9D9D9"/>
                </a:solidFill>
                <a:latin typeface="Nunito"/>
                <a:ea typeface="Nunito"/>
                <a:cs typeface="Nunito"/>
                <a:sym typeface="Nunito"/>
              </a:rPr>
              <a:t>Ana Raquel Bildozola Duarte</a:t>
            </a:r>
            <a:endParaRPr sz="1100">
              <a:solidFill>
                <a:srgbClr val="D9D9D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1143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D9D9D9"/>
                </a:solidFill>
                <a:latin typeface="Nunito"/>
                <a:ea typeface="Nunito"/>
                <a:cs typeface="Nunito"/>
                <a:sym typeface="Nunito"/>
              </a:rPr>
              <a:t>Armando Castellanos Muñoz</a:t>
            </a:r>
            <a:endParaRPr sz="1100">
              <a:solidFill>
                <a:srgbClr val="D9D9D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1143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D9D9D9"/>
                </a:solidFill>
                <a:latin typeface="Nunito"/>
                <a:ea typeface="Nunito"/>
                <a:cs typeface="Nunito"/>
                <a:sym typeface="Nunito"/>
              </a:rPr>
              <a:t>Daniela Rubí C. M.</a:t>
            </a:r>
            <a:endParaRPr sz="1100">
              <a:solidFill>
                <a:srgbClr val="D9D9D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1143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D9D9D9"/>
                </a:solidFill>
                <a:latin typeface="Nunito"/>
                <a:ea typeface="Nunito"/>
                <a:cs typeface="Nunito"/>
                <a:sym typeface="Nunito"/>
              </a:rPr>
              <a:t>Itzel Anahi Nuñez Escamilla</a:t>
            </a:r>
            <a:endParaRPr sz="1100">
              <a:solidFill>
                <a:srgbClr val="D9D9D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1143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D9D9D9"/>
                </a:solidFill>
                <a:latin typeface="Maven Pro"/>
                <a:ea typeface="Maven Pro"/>
                <a:cs typeface="Maven Pro"/>
                <a:sym typeface="Maven Pro"/>
              </a:rPr>
              <a:t>LIDER:</a:t>
            </a:r>
            <a:endParaRPr b="1" sz="1100">
              <a:solidFill>
                <a:srgbClr val="D9D9D9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1143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D9D9D9"/>
                </a:solidFill>
                <a:latin typeface="Nunito"/>
                <a:ea typeface="Nunito"/>
                <a:cs typeface="Nunito"/>
                <a:sym typeface="Nunito"/>
              </a:rPr>
              <a:t>“Iván” Armando Santos Flores</a:t>
            </a:r>
            <a:endParaRPr sz="1800">
              <a:solidFill>
                <a:srgbClr val="D9D9D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idx="4294967295" type="title"/>
          </p:nvPr>
        </p:nvSpPr>
        <p:spPr>
          <a:xfrm>
            <a:off x="459950" y="484675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Caso simulado</a:t>
            </a:r>
            <a:endParaRPr sz="2400"/>
          </a:p>
        </p:txBody>
      </p:sp>
      <p:sp>
        <p:nvSpPr>
          <p:cNvPr id="81" name="Google Shape;81;p14"/>
          <p:cNvSpPr txBox="1"/>
          <p:nvPr>
            <p:ph idx="4294967295" type="title"/>
          </p:nvPr>
        </p:nvSpPr>
        <p:spPr>
          <a:xfrm>
            <a:off x="411900" y="1252675"/>
            <a:ext cx="8320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Incidente:</a:t>
            </a:r>
            <a:r>
              <a:rPr b="0" lang="en" sz="2500"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lang="en" sz="2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Acceso denegado a una plataforma interna</a:t>
            </a:r>
            <a:endParaRPr b="0" sz="25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Descripción</a:t>
            </a:r>
            <a:r>
              <a:rPr lang="en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b="0" lang="en" sz="2000"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lang="en" sz="2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Usuario institucional bloqueado en Sistema Core de Crédito. Error 104: “Usuario bloqueado por exceso de intentos fallidos”.</a:t>
            </a:r>
            <a:endParaRPr b="0" sz="25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Impacto</a:t>
            </a:r>
            <a:r>
              <a:rPr lang="en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b="0" lang="en" sz="2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Alto. Ejecutivo con cliente en ventanilla esperando préstamo urgente.</a:t>
            </a:r>
            <a:endParaRPr b="0" sz="25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2410100" y="612975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Atención</a:t>
            </a:r>
            <a:r>
              <a:rPr lang="en"/>
              <a:t> al usuario</a:t>
            </a:r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Resolución Nivel 1: Desbloqueo de cuenta y restablecimiento de contraseña desde consola de administración del Sistema Core.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**Se valida que el usuario puede ingresar**</a:t>
            </a:r>
            <a:endParaRPr/>
          </a:p>
        </p:txBody>
      </p:sp>
      <p:grpSp>
        <p:nvGrpSpPr>
          <p:cNvPr id="88" name="Google Shape;88;p15"/>
          <p:cNvGrpSpPr/>
          <p:nvPr/>
        </p:nvGrpSpPr>
        <p:grpSpPr>
          <a:xfrm>
            <a:off x="136438" y="234685"/>
            <a:ext cx="2212050" cy="2537076"/>
            <a:chOff x="6803275" y="395363"/>
            <a:chExt cx="2212050" cy="2537076"/>
          </a:xfrm>
        </p:grpSpPr>
        <p:pic>
          <p:nvPicPr>
            <p:cNvPr id="89" name="Google Shape;89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90" name="Google Shape;90;p15"/>
            <p:cNvPicPr preferRelativeResize="0"/>
            <p:nvPr/>
          </p:nvPicPr>
          <p:blipFill rotWithShape="1">
            <a:blip r:embed="rId4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15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46524"/>
                  </a:solidFill>
                  <a:latin typeface="Raleway"/>
                  <a:ea typeface="Raleway"/>
                  <a:cs typeface="Raleway"/>
                  <a:sym typeface="Raleway"/>
                </a:rPr>
                <a:t>Atención dada:</a:t>
              </a:r>
              <a:endParaRPr b="1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04800" lvl="0" marL="320040" rtl="0" algn="l">
                <a:spcBef>
                  <a:spcPts val="800"/>
                </a:spcBef>
                <a:spcAft>
                  <a:spcPts val="0"/>
                </a:spcAft>
                <a:buSzPts val="1200"/>
                <a:buFont typeface="Raleway"/>
                <a:buChar char="●"/>
              </a:pPr>
              <a:r>
                <a:rPr lang="en" sz="1200">
                  <a:latin typeface="Raleway"/>
                  <a:ea typeface="Raleway"/>
                  <a:cs typeface="Raleway"/>
                  <a:sym typeface="Raleway"/>
                </a:rPr>
                <a:t>Confirmación</a:t>
              </a:r>
              <a:r>
                <a:rPr lang="en" sz="1200">
                  <a:latin typeface="Raleway"/>
                  <a:ea typeface="Raleway"/>
                  <a:cs typeface="Raleway"/>
                  <a:sym typeface="Raleway"/>
                </a:rPr>
                <a:t> de identidad</a:t>
              </a:r>
              <a:endParaRPr sz="1200">
                <a:latin typeface="Raleway"/>
                <a:ea typeface="Raleway"/>
                <a:cs typeface="Raleway"/>
                <a:sym typeface="Raleway"/>
              </a:endParaRPr>
            </a:p>
            <a:p>
              <a:pPr indent="-304800" lvl="0" marL="320040" rtl="0" algn="l">
                <a:spcBef>
                  <a:spcPts val="0"/>
                </a:spcBef>
                <a:spcAft>
                  <a:spcPts val="0"/>
                </a:spcAft>
                <a:buSzPts val="1200"/>
                <a:buFont typeface="Raleway"/>
                <a:buChar char="●"/>
              </a:pPr>
              <a:r>
                <a:rPr lang="en" sz="1200">
                  <a:latin typeface="Raleway"/>
                  <a:ea typeface="Raleway"/>
                  <a:cs typeface="Raleway"/>
                  <a:sym typeface="Raleway"/>
                </a:rPr>
                <a:t>Verificación</a:t>
              </a:r>
              <a:r>
                <a:rPr lang="en" sz="1200">
                  <a:latin typeface="Raleway"/>
                  <a:ea typeface="Raleway"/>
                  <a:cs typeface="Raleway"/>
                  <a:sym typeface="Raleway"/>
                </a:rPr>
                <a:t> de la cuenta</a:t>
              </a:r>
              <a:endParaRPr sz="1200">
                <a:latin typeface="Raleway"/>
                <a:ea typeface="Raleway"/>
                <a:cs typeface="Raleway"/>
                <a:sym typeface="Raleway"/>
              </a:endParaRPr>
            </a:p>
            <a:p>
              <a:pPr indent="-304800" lvl="0" marL="320040" rtl="0" algn="l">
                <a:spcBef>
                  <a:spcPts val="0"/>
                </a:spcBef>
                <a:spcAft>
                  <a:spcPts val="0"/>
                </a:spcAft>
                <a:buSzPts val="1200"/>
                <a:buFont typeface="Raleway"/>
                <a:buChar char="●"/>
              </a:pPr>
              <a:r>
                <a:rPr lang="en" sz="1200">
                  <a:latin typeface="Raleway"/>
                  <a:ea typeface="Raleway"/>
                  <a:cs typeface="Raleway"/>
                  <a:sym typeface="Raleway"/>
                </a:rPr>
                <a:t>Ticket documentado</a:t>
              </a:r>
              <a:endParaRPr sz="1200">
                <a:latin typeface="Raleway"/>
                <a:ea typeface="Raleway"/>
                <a:cs typeface="Raleway"/>
                <a:sym typeface="Raleway"/>
              </a:endParaRPr>
            </a:p>
            <a:p>
              <a:pPr indent="-304800" lvl="0" marL="320040" rtl="0" algn="l">
                <a:spcBef>
                  <a:spcPts val="0"/>
                </a:spcBef>
                <a:spcAft>
                  <a:spcPts val="0"/>
                </a:spcAft>
                <a:buSzPts val="1200"/>
                <a:buFont typeface="Raleway"/>
                <a:buChar char="●"/>
              </a:pPr>
              <a:r>
                <a:rPr lang="en" sz="1200">
                  <a:latin typeface="Raleway"/>
                  <a:ea typeface="Raleway"/>
                  <a:cs typeface="Raleway"/>
                  <a:sym typeface="Raleway"/>
                </a:rPr>
                <a:t>Solución</a:t>
              </a:r>
              <a:r>
                <a:rPr lang="en" sz="1200">
                  <a:latin typeface="Raleway"/>
                  <a:ea typeface="Raleway"/>
                  <a:cs typeface="Raleway"/>
                  <a:sym typeface="Raleway"/>
                </a:rPr>
                <a:t> aplicada (</a:t>
              </a:r>
              <a:r>
                <a:rPr lang="en" sz="1200">
                  <a:latin typeface="Raleway"/>
                  <a:ea typeface="Raleway"/>
                  <a:cs typeface="Raleway"/>
                  <a:sym typeface="Raleway"/>
                </a:rPr>
                <a:t>resolución</a:t>
              </a:r>
              <a:r>
                <a:rPr lang="en" sz="1200">
                  <a:latin typeface="Raleway"/>
                  <a:ea typeface="Raleway"/>
                  <a:cs typeface="Raleway"/>
                  <a:sym typeface="Raleway"/>
                </a:rPr>
                <a:t> de problema)</a:t>
              </a:r>
              <a:endParaRPr sz="1200"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t/>
              </a:r>
              <a:endParaRPr sz="1200"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92" name="Google Shape;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9638" y="2379429"/>
            <a:ext cx="2212050" cy="2504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3" name="Google Shape;93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5">
            <a:off x="7505524" y="2395835"/>
            <a:ext cx="1077275" cy="35183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 txBox="1"/>
          <p:nvPr/>
        </p:nvSpPr>
        <p:spPr>
          <a:xfrm>
            <a:off x="6661163" y="2629928"/>
            <a:ext cx="1929000" cy="20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Tiempo SLA simulado 30 min</a:t>
            </a:r>
            <a:r>
              <a:rPr b="1" lang="en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b="1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320040" rtl="0" algn="l">
              <a:spcBef>
                <a:spcPts val="8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Detección a registro: 5 min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32004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Diagnóstico + resolución: 15 min.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32004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Validación de usuario: 5 min.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32004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Documento y cierre: 5 min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2410100" y="3304625"/>
            <a:ext cx="3876000" cy="12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"Entiendo que no has podido completar la operación. Voy a revisar el proceso y te comunicaré los pasos a seguir una vez tenga una solución." 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225" y="-174490"/>
            <a:ext cx="3970450" cy="44962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01" name="Google Shape;101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9">
            <a:off x="1181641" y="-188895"/>
            <a:ext cx="1933617" cy="68689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/>
          <p:nvPr/>
        </p:nvSpPr>
        <p:spPr>
          <a:xfrm>
            <a:off x="546636" y="315132"/>
            <a:ext cx="3203700" cy="7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85325" lIns="85325" spcFirstLastPara="1" rIns="85325" wrap="square" tIns="85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Registro Ticket</a:t>
            </a:r>
            <a:endParaRPr b="1" sz="28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3" name="Google Shape;10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074" y="1026804"/>
            <a:ext cx="3399652" cy="2984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6469" y="2196269"/>
            <a:ext cx="4613926" cy="145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3588" y="4321775"/>
            <a:ext cx="8616824" cy="63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/>
          <p:nvPr/>
        </p:nvSpPr>
        <p:spPr>
          <a:xfrm flipH="1" rot="5399265">
            <a:off x="7230343" y="3166900"/>
            <a:ext cx="1403100" cy="1215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